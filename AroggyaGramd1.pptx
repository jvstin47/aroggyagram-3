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685800"/>
            <a:ext cx="9997135" cy="5486400"/>
          </a:xfrm>
          <a:prstGeom prst="roundRect">
            <a:avLst/>
          </a:prstGeom>
          <a:solidFill>
            <a:srgbClr val="FBFAF6"/>
          </a:solidFill>
          <a:ln w="31750">
            <a:solidFill>
              <a:srgbClr val="E0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365760"/>
          <a:lstStyle/>
          <a:p>
            <a:pPr algn="ctr">
              <a:spcAft>
                <a:spcPts val="600"/>
              </a:spcAft>
              <a:defRPr b="1" sz="1100">
                <a:solidFill>
                  <a:srgbClr val="005448"/>
                </a:solidFill>
              </a:defRPr>
            </a:pPr>
            <a:br/>
            <a:br/>
            <a:br/>
            <a:r>
              <a:t>NATIONAL LEVEL HACKATHON 2026  •  HEALTHCARE &amp; AI TRACK</a:t>
            </a:r>
          </a:p>
          <a:p>
            <a:pPr algn="ctr">
              <a:spcAft>
                <a:spcPts val="400"/>
              </a:spcAft>
              <a:defRPr b="1" sz="5000">
                <a:solidFill>
                  <a:srgbClr val="121E1C"/>
                </a:solidFill>
              </a:defRPr>
            </a:pPr>
            <a:r>
              <a:t>AroggyaGram</a:t>
            </a:r>
          </a:p>
          <a:p>
            <a:pPr algn="ctr">
              <a:spcAft>
                <a:spcPts val="1400"/>
              </a:spcAft>
              <a:defRPr b="1" sz="2000">
                <a:solidFill>
                  <a:srgbClr val="005448"/>
                </a:solidFill>
              </a:defRPr>
            </a:pPr>
            <a:r>
              <a:t>Intelligent Community Health-Response Network</a:t>
            </a:r>
          </a:p>
          <a:p>
            <a:pPr algn="ctr">
              <a:spcAft>
                <a:spcPts val="2000"/>
              </a:spcAft>
              <a:defRPr sz="1450">
                <a:solidFill>
                  <a:srgbClr val="576361"/>
                </a:solidFill>
              </a:defRPr>
            </a:pPr>
            <a:r>
              <a:t>“Turning unstructured human distress into coordinated real-world medical action in under 40 seconds.”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960120"/>
            <a:ext cx="1097280" cy="1097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645920" y="5212080"/>
            <a:ext cx="21031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050">
                <a:solidFill>
                  <a:srgbClr val="005448"/>
                </a:solidFill>
              </a:defRPr>
            </a:pPr>
            <a:r>
              <a:t>🤖 Multilingual Voice &amp; AI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5212080"/>
            <a:ext cx="20116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050">
                <a:solidFill>
                  <a:srgbClr val="005448"/>
                </a:solidFill>
              </a:defRPr>
            </a:pPr>
            <a:r>
              <a:t>🚨 Deterministic 108 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212080"/>
            <a:ext cx="21488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050">
                <a:solidFill>
                  <a:srgbClr val="005448"/>
                </a:solidFill>
              </a:defRPr>
            </a:pPr>
            <a:r>
              <a:t>🤝 Verified Volunteer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5212080"/>
            <a:ext cx="21031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050">
                <a:solidFill>
                  <a:srgbClr val="005448"/>
                </a:solidFill>
              </a:defRPr>
            </a:pPr>
            <a:r>
              <a:t>💊 Smart Prescription Adherence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D62828"/>
                </a:solidFill>
              </a:defRPr>
            </a:pPr>
            <a:r>
              <a:t>THE CRISIS &amp; RURAL REALITY</a:t>
            </a:r>
          </a:p>
          <a:p>
            <a:pPr>
              <a:defRPr b="1" sz="2600">
                <a:solidFill>
                  <a:srgbClr val="121E1C"/>
                </a:solidFill>
              </a:defRPr>
            </a:pPr>
            <a:r>
              <a:t>The 40-Kilometer Healthcare Desert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"/>
              </a:spcAft>
              <a:defRPr b="1" sz="3400">
                <a:solidFill>
                  <a:srgbClr val="D62828"/>
                </a:solidFill>
              </a:defRPr>
            </a:pPr>
            <a:r>
              <a:t>65%</a:t>
            </a:r>
          </a:p>
          <a:p>
            <a:pPr>
              <a:spcAft>
                <a:spcPts val="400"/>
              </a:spcAft>
              <a:defRPr b="1" sz="1300">
                <a:solidFill>
                  <a:srgbClr val="121E1C"/>
                </a:solidFill>
              </a:defRPr>
            </a:pPr>
            <a:r>
              <a:t>Rural Population</a:t>
            </a:r>
          </a:p>
          <a:p>
            <a:pPr>
              <a:defRPr sz="1050">
                <a:solidFill>
                  <a:srgbClr val="576361"/>
                </a:solidFill>
              </a:defRPr>
            </a:pPr>
            <a:r>
              <a:t>Over 650M Indian citizens reside in rural panchayats with access to &lt;30% of emergency healthcare resources.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"/>
              </a:spcAft>
              <a:defRPr b="1" sz="3400">
                <a:solidFill>
                  <a:srgbClr val="E68A00"/>
                </a:solidFill>
              </a:defRPr>
            </a:pPr>
            <a:r>
              <a:t>90+ Mins</a:t>
            </a:r>
          </a:p>
          <a:p>
            <a:pPr>
              <a:spcAft>
                <a:spcPts val="400"/>
              </a:spcAft>
              <a:defRPr b="1" sz="1300">
                <a:solidFill>
                  <a:srgbClr val="121E1C"/>
                </a:solidFill>
              </a:defRPr>
            </a:pPr>
            <a:r>
              <a:t>Ambulance Lag</a:t>
            </a:r>
          </a:p>
          <a:p>
            <a:pPr>
              <a:defRPr sz="1050">
                <a:solidFill>
                  <a:srgbClr val="576361"/>
                </a:solidFill>
              </a:defRPr>
            </a:pPr>
            <a:r>
              <a:t>Average emergency ambulance transit delay across Tier-3 panchayats, hilly roads, and remote settlements.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"/>
              </a:spcAft>
              <a:defRPr b="1" sz="3400">
                <a:solidFill>
                  <a:srgbClr val="005448"/>
                </a:solidFill>
              </a:defRPr>
            </a:pPr>
            <a:r>
              <a:t>1 : 10,000</a:t>
            </a:r>
          </a:p>
          <a:p>
            <a:pPr>
              <a:spcAft>
                <a:spcPts val="400"/>
              </a:spcAft>
              <a:defRPr b="1" sz="1300">
                <a:solidFill>
                  <a:srgbClr val="121E1C"/>
                </a:solidFill>
              </a:defRPr>
            </a:pPr>
            <a:r>
              <a:t>Practitioner Deficit</a:t>
            </a:r>
          </a:p>
          <a:p>
            <a:pPr>
              <a:defRPr sz="1050">
                <a:solidFill>
                  <a:srgbClr val="576361"/>
                </a:solidFill>
              </a:defRPr>
            </a:pPr>
            <a:r>
              <a:t>Severe rural doctor-to-patient deficit in community clinics compared to WHO benchmark of 1:1,000.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b="1" sz="1400">
                <a:solidFill>
                  <a:srgbClr val="121E1C"/>
                </a:solidFill>
              </a:defRPr>
            </a:pPr>
            <a:r>
              <a:t>The Daily Ground Reality in Isolated Panchayats: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05448"/>
                </a:solidFill>
              </a:rPr>
              <a:t>• Chronic Neglect: </a:t>
            </a:r>
            <a:r>
              <a:rPr sz="1100">
                <a:solidFill>
                  <a:srgbClr val="576361"/>
                </a:solidFill>
              </a:rPr>
              <a:t>Elderly diabetic patients miss insulin &amp; BP doses because verified pharmacies are 10-15 km away.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05448"/>
                </a:solidFill>
              </a:rPr>
              <a:t>• ASHA Isolation: </a:t>
            </a:r>
            <a:r>
              <a:rPr sz="1100">
                <a:solidFill>
                  <a:srgbClr val="576361"/>
                </a:solidFill>
              </a:rPr>
              <a:t>Frontline health workers face complex clinical events without real-time diagnostic or triage support.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05448"/>
                </a:solidFill>
              </a:rPr>
              <a:t>• Unwitnessed Emergencies: </a:t>
            </a:r>
            <a:r>
              <a:rPr sz="1100">
                <a:solidFill>
                  <a:srgbClr val="576361"/>
                </a:solidFill>
              </a:rPr>
              <a:t>Falls, acute cardiac pain, and seasonal fevers go unreported for critical hours in remote households.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005448"/>
                </a:solidFill>
              </a:rPr>
              <a:t>• Linguistic &amp; Dialect Barriers: </a:t>
            </a:r>
            <a:r>
              <a:rPr sz="1100">
                <a:solidFill>
                  <a:srgbClr val="576361"/>
                </a:solidFill>
              </a:rPr>
              <a:t>Patients unable to effectively communicate symptom histories in standardized English terminology.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05448"/>
                </a:solidFill>
              </a:defRPr>
            </a:pPr>
            <a:r>
              <a:t>THE PLATFORM SOLUTION</a:t>
            </a:r>
          </a:p>
          <a:p>
            <a:pPr>
              <a:defRPr b="1" sz="2600">
                <a:solidFill>
                  <a:srgbClr val="121E1C"/>
                </a:solidFill>
              </a:defRPr>
            </a:pPr>
            <a:r>
              <a:t>AroggyaGram: One Unified Platform, Four Architectural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b="1" sz="1300">
                <a:solidFill>
                  <a:srgbClr val="005448"/>
                </a:solidFill>
              </a:defRPr>
            </a:pPr>
            <a:r>
              <a:t>🤖  Clinical AI Triage (Ask Aroggya)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Powered by Google Gemini 2.5 Flash + Clinical Safety Rules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Native voice-to-text in Malayalam, Hindi &amp; English via Capacitor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Categorizes symptoms: LOW, MODERATE, HIGH, CRITICAL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Zero-overlap floating input card + automatic reading scroll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b="1" sz="1300">
                <a:solidFill>
                  <a:srgbClr val="D62828"/>
                </a:solidFill>
              </a:defRPr>
            </a:pPr>
            <a:r>
              <a:t>🚨  Deterministic Emergency SOS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Automatic red-flag detection bypasses AI for immediate rescue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1-Tap emergency dial directly to 9539141210 / 108 Ambulance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High-precision GPS coordinates + reverse geo-tagged address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Caregiver dispatch notifications with live status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🤝  Volunteer Task &amp; Responder Network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Mobilizes verified local neighbors for high-impact care tasks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100-Point algorithmic matching (distance, skills, rating, vehicle)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Interactive geospatial map view for active community assistance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Scoped non-clinical tasks: medicine pickup, hospital escort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b="1" sz="1300">
                <a:solidFill>
                  <a:srgbClr val="7C3AED"/>
                </a:solidFill>
              </a:defRPr>
            </a:pPr>
            <a:r>
              <a:t>💊  Structured Medication Adherence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Replaces forgotten paper prescriptions with digital schedules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Dosage tracker: tablets, syrups, strength &amp; meal relations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Native 24h clock selector + fast mealtime presets (M/N/E)</a:t>
            </a:r>
          </a:p>
          <a:p>
            <a:pPr>
              <a:spcAft>
                <a:spcPts val="200"/>
              </a:spcAft>
              <a:defRPr sz="1050">
                <a:solidFill>
                  <a:srgbClr val="576361"/>
                </a:solidFill>
              </a:defRPr>
            </a:pPr>
            <a:r>
              <a:t>• Strict 10-digit phone verification &amp; Supabase cloud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05448"/>
                </a:solidFill>
              </a:defRPr>
            </a:pPr>
            <a:r>
              <a:t>INTELLIGENT ORCHESTRATION</a:t>
            </a:r>
          </a:p>
          <a:p>
            <a:pPr>
              <a:defRPr b="1" sz="2600">
                <a:solidFill>
                  <a:srgbClr val="121E1C"/>
                </a:solidFill>
              </a:defRPr>
            </a:pPr>
            <a:r>
              <a:t>From Colloquial Distress Signal to Coordinated Real-World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99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005448"/>
                </a:solidFill>
              </a:defRPr>
            </a:pPr>
            <a:r>
              <a:t>STEP 01</a:t>
            </a:r>
          </a:p>
          <a:p>
            <a:pPr>
              <a:spcAft>
                <a:spcPts val="1200"/>
              </a:spcAft>
              <a:defRPr b="1" sz="1500">
                <a:solidFill>
                  <a:srgbClr val="121E1C"/>
                </a:solidFill>
              </a:defRPr>
            </a:pPr>
            <a:r>
              <a:t>Native Voice / Dialect Intake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Citizen speaks naturally or types symptoms.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Offline-ready Android speech recognition captures transcript;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zero medical terminology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99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E68A00"/>
                </a:solidFill>
              </a:defRPr>
            </a:pPr>
            <a:r>
              <a:t>STEP 02</a:t>
            </a:r>
          </a:p>
          <a:p>
            <a:pPr>
              <a:spcAft>
                <a:spcPts val="1200"/>
              </a:spcAft>
              <a:defRPr b="1" sz="1500">
                <a:solidFill>
                  <a:srgbClr val="121E1C"/>
                </a:solidFill>
              </a:defRPr>
            </a:pPr>
            <a:r>
              <a:t>Situation &amp; Safety Engine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Clinical engine triages distress severity.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Trauma keywords trigger instant SOS;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non-acute needs convert into structured Care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99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7C3AED"/>
                </a:solidFill>
              </a:defRPr>
            </a:pPr>
            <a:r>
              <a:t>STEP 03</a:t>
            </a:r>
          </a:p>
          <a:p>
            <a:pPr>
              <a:spcAft>
                <a:spcPts val="1200"/>
              </a:spcAft>
              <a:defRPr b="1" sz="1500">
                <a:solidFill>
                  <a:srgbClr val="121E1C"/>
                </a:solidFill>
              </a:defRPr>
            </a:pPr>
            <a:r>
              <a:t>Volunteer Match &amp; Dispatch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MatchingService scores nearby responders (0-100)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based on distance, verified skills, and transport.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Best-matched neighbor receives task alert.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990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2563EB"/>
                </a:solidFill>
              </a:defRPr>
            </a:pPr>
            <a:r>
              <a:t>STEP 04</a:t>
            </a:r>
          </a:p>
          <a:p>
            <a:pPr>
              <a:spcAft>
                <a:spcPts val="1200"/>
              </a:spcAft>
              <a:defRPr b="1" sz="1500">
                <a:solidFill>
                  <a:srgbClr val="121E1C"/>
                </a:solidFill>
              </a:defRPr>
            </a:pPr>
            <a:r>
              <a:t>Resolution &amp; Audit Trail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Task completed on ground with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Case logged into Unified Health Timeline.</a:t>
            </a:r>
          </a:p>
          <a:p>
            <a:pPr>
              <a:spcAft>
                <a:spcPts val="400"/>
              </a:spcAft>
              <a:defRPr sz="1100">
                <a:solidFill>
                  <a:srgbClr val="576361"/>
                </a:solidFill>
              </a:defRPr>
            </a:pPr>
            <a:r>
              <a:t>Strict patient privacy &amp; encrypted cloud backup.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05448"/>
                </a:solidFill>
              </a:defRPr>
            </a:pPr>
            <a:r>
              <a:t>TECHNOLOGY &amp; ARCHITECTURE</a:t>
            </a:r>
          </a:p>
          <a:p>
            <a:pPr>
              <a:defRPr b="1" sz="2600">
                <a:solidFill>
                  <a:srgbClr val="121E1C"/>
                </a:solidFill>
              </a:defRPr>
            </a:pPr>
            <a:r>
              <a:t>Gemini Intelligence with Deterministic Safety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05448"/>
                </a:solidFill>
              </a:defRPr>
            </a:pPr>
            <a:r>
              <a:t>Clinical AI Intelligence &amp; Safety Guardrails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Multilingual NLP: </a:t>
            </a:r>
            <a:r>
              <a:rPr sz="1100">
                <a:solidFill>
                  <a:srgbClr val="576361"/>
                </a:solidFill>
              </a:rPr>
              <a:t>Gemini 2.5 Flash natively processes Malayalam, Hindi, and English with clinical grounding.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Triage Classification: </a:t>
            </a:r>
            <a:r>
              <a:rPr sz="1100">
                <a:solidFill>
                  <a:srgbClr val="576361"/>
                </a:solidFill>
              </a:rPr>
              <a:t>Categorizes urgency into LOW, MODERATE, HIGH, CRITICAL with recommended clinical escalation.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User-Configurable API Key: </a:t>
            </a:r>
            <a:r>
              <a:rPr sz="1100">
                <a:solidFill>
                  <a:srgbClr val="576361"/>
                </a:solidFill>
              </a:rPr>
              <a:t>Zero vendor lock-in; dedicated in-app screen to test, validate, and store custom Gemini keys locally.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Deterministic Safety Bypass: </a:t>
            </a:r>
            <a:r>
              <a:rPr sz="1100">
                <a:solidFill>
                  <a:srgbClr val="576361"/>
                </a:solidFill>
              </a:rPr>
              <a:t>Acute symptoms (unconsciousness, cardiac pain, stroke signs) bypass AI to prevent dangerous latency.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Non-Clinical Volunteer Scoping: </a:t>
            </a:r>
            <a:r>
              <a:rPr sz="1100">
                <a:solidFill>
                  <a:srgbClr val="576361"/>
                </a:solidFill>
              </a:rPr>
              <a:t>Strict guardrails ensure volunteers perform ONLY logistics and accompaniment, never medical procedures.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2563EB"/>
                </a:solidFill>
              </a:defRPr>
            </a:pPr>
            <a:r>
              <a:t>Production Engineering Stack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Core Framework: </a:t>
            </a:r>
            <a:r>
              <a:rPr sz="1100">
                <a:solidFill>
                  <a:srgbClr val="576361"/>
                </a:solidFill>
              </a:rPr>
              <a:t>React 19 + TypeScript + Vite (2,077 modules, ~1.3s build)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Native Android Shell: </a:t>
            </a:r>
            <a:r>
              <a:rPr sz="1100">
                <a:solidFill>
                  <a:srgbClr val="576361"/>
                </a:solidFill>
              </a:rPr>
              <a:t>Capacitor 6 + Speech Recognition + Custom App Branding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Intelligence: </a:t>
            </a:r>
            <a:r>
              <a:rPr sz="1100">
                <a:solidFill>
                  <a:srgbClr val="576361"/>
                </a:solidFill>
              </a:rPr>
              <a:t>Google Gemini 2.5 Flash SDK + Situation Synthesis Engine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Geospatial: </a:t>
            </a:r>
            <a:r>
              <a:rPr sz="1100">
                <a:solidFill>
                  <a:srgbClr val="576361"/>
                </a:solidFill>
              </a:rPr>
              <a:t>Leaflet.js + OpenStreetMap for live volunteer dispatch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Cloud Backend: </a:t>
            </a:r>
            <a:r>
              <a:rPr sz="1100">
                <a:solidFill>
                  <a:srgbClr val="576361"/>
                </a:solidFill>
              </a:rPr>
              <a:t>Supabase (PostgreSQL with RLS, public bulletins &amp; clinic registry)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Form Validation: </a:t>
            </a:r>
            <a:r>
              <a:rPr sz="1100">
                <a:solidFill>
                  <a:srgbClr val="576361"/>
                </a:solidFill>
              </a:rPr>
              <a:t>Strict 10-digit Indian phone validation + real-time counters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Speech Recognition: </a:t>
            </a:r>
            <a:r>
              <a:rPr sz="1100">
                <a:solidFill>
                  <a:srgbClr val="576361"/>
                </a:solidFill>
              </a:rPr>
              <a:t>Native Android SpeechRecognizer + Web Speech API fallback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21E1C"/>
                </a:solidFill>
              </a:rPr>
              <a:t>Quality Assurance: </a:t>
            </a:r>
            <a:r>
              <a:rPr sz="1100">
                <a:solidFill>
                  <a:srgbClr val="576361"/>
                </a:solidFill>
              </a:rPr>
              <a:t>Vitest test suite passing across all triage and state machines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05448"/>
                </a:solidFill>
              </a:defRPr>
            </a:pPr>
            <a:r>
              <a:t>FIELD DEPLOYMENT &amp; TRACTION</a:t>
            </a:r>
          </a:p>
          <a:p>
            <a:pPr>
              <a:defRPr b="1" sz="2600">
                <a:solidFill>
                  <a:srgbClr val="121E1C"/>
                </a:solidFill>
              </a:defRPr>
            </a:pPr>
            <a:r>
              <a:t>Real-World Grounding: Kanjirappally Block, Kottayam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005448"/>
                </a:solidFill>
              </a:defRPr>
            </a:pPr>
            <a:r>
              <a:t>Mapped Healthcare Ecosystem (Kanjirappally)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21E1C"/>
                </a:solidFill>
              </a:rPr>
              <a:t>MaryQueens Mission Hospital: </a:t>
            </a:r>
            <a:r>
              <a:rPr sz="1100">
                <a:solidFill>
                  <a:srgbClr val="576361"/>
                </a:solidFill>
              </a:rPr>
              <a:t>Multispecialty tertiary referral hospital with 24/7 emergency trauma care and ICU backup.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21E1C"/>
                </a:solidFill>
              </a:rPr>
              <a:t>Kanjirappally General Hospital CHC: </a:t>
            </a:r>
            <a:r>
              <a:rPr sz="1100">
                <a:solidFill>
                  <a:srgbClr val="576361"/>
                </a:solidFill>
              </a:rPr>
              <a:t>Public community health centre providing free diagnostic testing, fever clinics &amp; pharmacy refills.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21E1C"/>
                </a:solidFill>
              </a:rPr>
              <a:t>Chirakkadavu Primary Health Centre: </a:t>
            </a:r>
            <a:r>
              <a:rPr sz="1100">
                <a:solidFill>
                  <a:srgbClr val="576361"/>
                </a:solidFill>
              </a:rPr>
              <a:t>Sub-block immunization clinic, ASHA hub, and maternal health monitoring center.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21E1C"/>
                </a:solidFill>
              </a:rPr>
              <a:t>St. Dominic's 24/7 Pharmacy: </a:t>
            </a:r>
            <a:r>
              <a:rPr sz="1100">
                <a:solidFill>
                  <a:srgbClr val="576361"/>
                </a:solidFill>
              </a:rPr>
              <a:t>Emergency nocturnal medicine dispensary stocked with cardiovascular &amp; diabetic medications.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990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2800">
                <a:solidFill>
                  <a:srgbClr val="2E7A5B"/>
                </a:solidFill>
              </a:defRPr>
            </a:pPr>
            <a:r>
              <a:t>&lt; 40 Secs</a:t>
            </a:r>
          </a:p>
          <a:p>
            <a:pPr>
              <a:defRPr b="1" sz="1200">
                <a:solidFill>
                  <a:srgbClr val="121E1C"/>
                </a:solidFill>
              </a:defRPr>
            </a:pPr>
            <a:r>
              <a:t>Rapid Care Dispatch</a:t>
            </a:r>
          </a:p>
          <a:p>
            <a:pPr>
              <a:defRPr sz="1000">
                <a:solidFill>
                  <a:srgbClr val="576361"/>
                </a:solidFill>
              </a:defRPr>
            </a:pPr>
            <a:r>
              <a:t>From voice distress to nearby verified responder notification.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990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2800">
                <a:solidFill>
                  <a:srgbClr val="005448"/>
                </a:solidFill>
              </a:defRPr>
            </a:pPr>
            <a:r>
              <a:t>100%</a:t>
            </a:r>
          </a:p>
          <a:p>
            <a:pPr>
              <a:defRPr b="1" sz="1200">
                <a:solidFill>
                  <a:srgbClr val="121E1C"/>
                </a:solidFill>
              </a:defRPr>
            </a:pPr>
            <a:r>
              <a:t>Offline Fallback</a:t>
            </a:r>
          </a:p>
          <a:p>
            <a:pPr>
              <a:defRPr sz="1000">
                <a:solidFill>
                  <a:srgbClr val="576361"/>
                </a:solidFill>
              </a:defRPr>
            </a:pPr>
            <a:r>
              <a:t>Zero downtime: cached clinical triage &amp; local emergency contacts.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42255" cy="2194560"/>
          </a:xfrm>
          <a:prstGeom prst="roundRect">
            <a:avLst/>
          </a:prstGeom>
          <a:solidFill>
            <a:srgbClr val="E0F2EE"/>
          </a:solidFill>
          <a:ln w="15240">
            <a:solidFill>
              <a:srgbClr val="005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400"/>
              </a:spcAft>
              <a:defRPr b="1" sz="1400">
                <a:solidFill>
                  <a:srgbClr val="005448"/>
                </a:solidFill>
              </a:defRPr>
            </a:pPr>
            <a:r>
              <a:t>Empowering Frontline ASHA Workers</a:t>
            </a:r>
          </a:p>
          <a:p>
            <a:pPr>
              <a:defRPr sz="1100">
                <a:solidFill>
                  <a:srgbClr val="121E1C"/>
                </a:solidFill>
              </a:defRPr>
            </a:pPr>
            <a:r>
              <a:t>Instead of managing tedious paper registries, health workers use AroggyaGram for instant clinical triage, automated prescription compliance checks, and emergency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05448"/>
                </a:solidFill>
              </a:defRPr>
            </a:pPr>
            <a:r>
              <a:t>PRODUCT READINESS &amp; HARDWARE AUDIT</a:t>
            </a:r>
          </a:p>
          <a:p>
            <a:pPr>
              <a:defRPr b="1" sz="2600">
                <a:solidFill>
                  <a:srgbClr val="121E1C"/>
                </a:solidFill>
              </a:defRPr>
            </a:pPr>
            <a:r>
              <a:t>Built, Tested, and Verified on Physical Android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005448"/>
                </a:solidFill>
              </a:defRPr>
            </a:pPr>
            <a:r>
              <a:t>📱 Native Android APK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Packaged with Capacitor 6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Tested on Redmi Note 14 5G (Android 14)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Official adaptive launcher icons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Direct ADB and browser install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2E7A5B"/>
                </a:solidFill>
              </a:defRPr>
            </a:pPr>
            <a:r>
              <a:t>🎙️ Native Voice-to-Text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Malayalam (ml-IN), Hindi (hi-IN), English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Android SpeechRecognizer integration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Works with one-tap mic button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Live transcription into chat &amp; intake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b="1" sz="1400">
                <a:solidFill>
                  <a:srgbClr val="2563EB"/>
                </a:solidFill>
              </a:defRPr>
            </a:pPr>
            <a:r>
              <a:t>🛡️ Supabase &amp; Data Sync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Live community health news bulletins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Verified Kanjirappally clinics &amp; PHCs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Resilient offline caching</a:t>
            </a:r>
          </a:p>
          <a:p>
            <a:pPr>
              <a:spcAft>
                <a:spcPts val="200"/>
              </a:spcAft>
              <a:defRPr sz="1100">
                <a:solidFill>
                  <a:srgbClr val="576361"/>
                </a:solidFill>
              </a:defRPr>
            </a:pPr>
            <a:r>
              <a:t>• Strict 10-digit mobile number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600"/>
              </a:spcAft>
              <a:defRPr b="1" sz="1300">
                <a:solidFill>
                  <a:srgbClr val="121E1C"/>
                </a:solidFill>
              </a:defRPr>
            </a:pPr>
            <a:r>
              <a:t>On-Device Performance Benchmarks (Redmi Note 14 5G):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005448"/>
                </a:solidFill>
              </a:rPr>
              <a:t>• Cold App Launch: </a:t>
            </a:r>
            <a:r>
              <a:rPr sz="1100">
                <a:solidFill>
                  <a:srgbClr val="576361"/>
                </a:solidFill>
              </a:rPr>
              <a:t>Under 850 ms to full interactive home screen with zero blank frames.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005448"/>
                </a:solidFill>
              </a:rPr>
              <a:t>• Voice Transcription Latency: </a:t>
            </a:r>
            <a:r>
              <a:rPr sz="1100">
                <a:solidFill>
                  <a:srgbClr val="576361"/>
                </a:solidFill>
              </a:rPr>
              <a:t>Sub-second speech-to-text response via on-device speech engine.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005448"/>
                </a:solidFill>
              </a:rPr>
              <a:t>• Chat Layout Clearance: </a:t>
            </a:r>
            <a:r>
              <a:rPr sz="1100">
                <a:solidFill>
                  <a:srgbClr val="576361"/>
                </a:solidFill>
              </a:rPr>
              <a:t>Elevated input card floats cleanly above bottom navigation bar with zero occlusion.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005448"/>
                </a:solidFill>
              </a:rPr>
              <a:t>• APK Footprint: </a:t>
            </a:r>
            <a:r>
              <a:rPr sz="1100">
                <a:solidFill>
                  <a:srgbClr val="576361"/>
                </a:solidFill>
              </a:rPr>
              <a:t>Ultra-lightweight ~4.1 MB distribution size, ideal for 2G/3G rural network downloads.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685800"/>
            <a:ext cx="9997135" cy="5486400"/>
          </a:xfrm>
          <a:prstGeom prst="roundRect">
            <a:avLst/>
          </a:prstGeom>
          <a:solidFill>
            <a:srgbClr val="FBFAF6"/>
          </a:solidFill>
          <a:ln w="31750">
            <a:solidFill>
              <a:srgbClr val="E0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365760"/>
          <a:lstStyle/>
          <a:p>
            <a:pPr algn="ctr">
              <a:spcAft>
                <a:spcPts val="600"/>
              </a:spcAft>
              <a:defRPr b="1" sz="1100">
                <a:solidFill>
                  <a:srgbClr val="005448"/>
                </a:solidFill>
              </a:defRPr>
            </a:pPr>
            <a:br/>
            <a:br/>
            <a:br/>
            <a:r>
              <a:t>NATIONAL LEVEL HACKATHON 2026  •  FINAL PITCH</a:t>
            </a:r>
          </a:p>
          <a:p>
            <a:pPr algn="ctr">
              <a:spcAft>
                <a:spcPts val="600"/>
              </a:spcAft>
              <a:defRPr b="1" sz="3200">
                <a:solidFill>
                  <a:srgbClr val="121E1C"/>
                </a:solidFill>
              </a:defRPr>
            </a:pPr>
            <a:r>
              <a:t>“No Rural Citizen Should Face Illness Alone.”</a:t>
            </a:r>
          </a:p>
          <a:p>
            <a:pPr algn="ctr">
              <a:spcAft>
                <a:spcPts val="1800"/>
              </a:spcAft>
              <a:defRPr sz="1400">
                <a:solidFill>
                  <a:srgbClr val="576361"/>
                </a:solidFill>
              </a:defRPr>
            </a:pPr>
            <a:r>
              <a:t>AroggyaGram doesn't wait for physical infrastructure to catch up.</a:t>
            </a:r>
            <a:br/>
            <a:r>
              <a:t>It bridges the 40-km healthcare desert using the smartphone in every villager's pocket.</a:t>
            </a:r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960120"/>
            <a:ext cx="1097280" cy="1097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645920" y="4114800"/>
            <a:ext cx="24688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b="1" sz="1200">
                <a:solidFill>
                  <a:srgbClr val="005448"/>
                </a:solidFill>
              </a:defRPr>
            </a:pPr>
            <a:r>
              <a:t>🏆  The Ask</a:t>
            </a:r>
          </a:p>
          <a:p>
            <a:pPr>
              <a:defRPr sz="1000">
                <a:solidFill>
                  <a:srgbClr val="576361"/>
                </a:solidFill>
              </a:defRPr>
            </a:pPr>
            <a:r>
              <a:t>Partnership with National Health Mission (NHM) Kerala to pilot across 4 rural panchayats in Kottayam district.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114800"/>
            <a:ext cx="24688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b="1" sz="1200">
                <a:solidFill>
                  <a:srgbClr val="005448"/>
                </a:solidFill>
              </a:defRPr>
            </a:pPr>
            <a:r>
              <a:t>🔬  Next Steps</a:t>
            </a:r>
          </a:p>
          <a:p>
            <a:pPr>
              <a:defRPr sz="1000">
                <a:solidFill>
                  <a:srgbClr val="576361"/>
                </a:solidFill>
              </a:defRPr>
            </a:pPr>
            <a:r>
              <a:t>ASHA worker beta group onboarding, Supabase database sync, and ABDM health ID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114800"/>
            <a:ext cx="24688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b="1" sz="1200">
                <a:solidFill>
                  <a:srgbClr val="005448"/>
                </a:solidFill>
              </a:defRPr>
            </a:pPr>
            <a:r>
              <a:t>📲  Live &amp; Functional Now</a:t>
            </a:r>
          </a:p>
          <a:p>
            <a:pPr>
              <a:defRPr sz="1000">
                <a:solidFill>
                  <a:srgbClr val="576361"/>
                </a:solidFill>
              </a:defRPr>
            </a:pPr>
            <a:r>
              <a:t>Verified Android APK build available.</a:t>
            </a:r>
            <a:br/>
            <a:r>
              <a:t>Complete source code on GitHub:</a:t>
            </a:r>
            <a:br/>
            <a:r>
              <a:t>github.com/jvstin47/AroggyaGram-3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