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822960"/>
            <a:ext cx="9997135" cy="5212080"/>
          </a:xfrm>
          <a:prstGeom prst="roundRect">
            <a:avLst/>
          </a:prstGeom>
          <a:solidFill>
            <a:srgbClr val="0B141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548640"/>
          <a:lstStyle/>
          <a:p>
            <a:pPr algn="ctr">
              <a:spcAft>
                <a:spcPts val="1600"/>
              </a:spcAft>
              <a:defRPr b="1" sz="1200">
                <a:solidFill>
                  <a:srgbClr val="10B981"/>
                </a:solidFill>
              </a:defRPr>
            </a:pPr>
            <a:r>
              <a:t>NATIONAL LEVEL HACKATHON 2026  •  HEALTHCARE TRACK</a:t>
            </a:r>
          </a:p>
          <a:p>
            <a:pPr algn="ctr">
              <a:spcAft>
                <a:spcPts val="800"/>
              </a:spcAft>
              <a:defRPr b="1" sz="5600">
                <a:solidFill>
                  <a:srgbClr val="FFFFFF"/>
                </a:solidFill>
              </a:defRPr>
            </a:pPr>
            <a:r>
              <a:t>AroggyaGram</a:t>
            </a:r>
          </a:p>
          <a:p>
            <a:pPr algn="ctr">
              <a:spcAft>
                <a:spcPts val="2000"/>
              </a:spcAft>
              <a:defRPr b="1" sz="2200">
                <a:solidFill>
                  <a:srgbClr val="34D399"/>
                </a:solidFill>
              </a:defRPr>
            </a:pPr>
            <a:r>
              <a:t>Rural India's AI-Powered Emergency Health Response Network</a:t>
            </a:r>
          </a:p>
          <a:p>
            <a:pPr algn="ctr">
              <a:spcAft>
                <a:spcPts val="2800"/>
              </a:spcAft>
              <a:defRPr sz="1500">
                <a:solidFill>
                  <a:srgbClr val="FBFAF6"/>
                </a:solidFill>
              </a:defRPr>
            </a:pPr>
            <a:r>
              <a:t>“When the nearest hospital is 40 km away and an ambulance takes 90 minutes —</a:t>
            </a:r>
            <a:br/>
            <a:r>
              <a:t>AroggyaGram responds in 40 seconds.”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4937760"/>
            <a:ext cx="2011680" cy="548640"/>
          </a:xfrm>
          <a:prstGeom prst="roundRect">
            <a:avLst/>
          </a:prstGeom>
          <a:solidFill>
            <a:srgbClr val="0D3B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🤖 Gemini AI 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4937760"/>
            <a:ext cx="2103120" cy="548640"/>
          </a:xfrm>
          <a:prstGeom prst="roundRect">
            <a:avLst/>
          </a:prstGeom>
          <a:solidFill>
            <a:srgbClr val="0D3B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🚨 Deterministic 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937760"/>
            <a:ext cx="2194560" cy="548640"/>
          </a:xfrm>
          <a:prstGeom prst="roundRect">
            <a:avLst/>
          </a:prstGeom>
          <a:solidFill>
            <a:srgbClr val="0D3B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🤝 Verified Volunteers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4937760"/>
            <a:ext cx="2011680" cy="548640"/>
          </a:xfrm>
          <a:prstGeom prst="roundRect">
            <a:avLst/>
          </a:prstGeom>
          <a:solidFill>
            <a:srgbClr val="0D3B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💊 Med Adherence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EF4444"/>
                </a:solidFill>
              </a:defRPr>
            </a:pPr>
            <a:r>
              <a:t>THE CRISIS</a:t>
            </a:r>
          </a:p>
          <a:p>
            <a:pPr>
              <a:defRPr b="1" sz="2800">
                <a:solidFill>
                  <a:srgbClr val="FFFFFF"/>
                </a:solidFill>
              </a:defRPr>
            </a:pPr>
            <a:r>
              <a:t>Rural India's Healthcare Desert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13455" cy="2103120"/>
          </a:xfrm>
          <a:prstGeom prst="roundRect">
            <a:avLst/>
          </a:prstGeom>
          <a:solidFill>
            <a:srgbClr val="2D121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200"/>
              </a:spcAft>
              <a:defRPr b="1" sz="3600">
                <a:solidFill>
                  <a:srgbClr val="EF4444"/>
                </a:solidFill>
              </a:defRPr>
            </a:pPr>
            <a:r>
              <a:t>65%</a:t>
            </a:r>
          </a:p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Rural Population</a:t>
            </a:r>
          </a:p>
          <a:p>
            <a:pPr>
              <a:defRPr sz="1100">
                <a:solidFill>
                  <a:srgbClr val="A0AFAA"/>
                </a:solidFill>
              </a:defRPr>
            </a:pPr>
            <a:r>
              <a:t>Over 650M citizens reside in rural districts with access to &lt;30% of critical healthcare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37360"/>
            <a:ext cx="3413455" cy="2103120"/>
          </a:xfrm>
          <a:prstGeom prst="roundRect">
            <a:avLst/>
          </a:prstGeom>
          <a:solidFill>
            <a:srgbClr val="2D121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200"/>
              </a:spcAft>
              <a:defRPr b="1" sz="3600">
                <a:solidFill>
                  <a:srgbClr val="EF4444"/>
                </a:solidFill>
              </a:defRPr>
            </a:pPr>
            <a:r>
              <a:t>90+ Mins</a:t>
            </a:r>
          </a:p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Emergency Delay</a:t>
            </a:r>
          </a:p>
          <a:p>
            <a:pPr>
              <a:defRPr sz="1100">
                <a:solidFill>
                  <a:srgbClr val="A0AFAA"/>
                </a:solidFill>
              </a:defRPr>
            </a:pPr>
            <a:r>
              <a:t>Average emergency ambulance response time across Tier-3 panchayats and hilly regions.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413455" cy="2103120"/>
          </a:xfrm>
          <a:prstGeom prst="roundRect">
            <a:avLst/>
          </a:prstGeom>
          <a:solidFill>
            <a:srgbClr val="2D121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200"/>
              </a:spcAft>
              <a:defRPr b="1" sz="3600">
                <a:solidFill>
                  <a:srgbClr val="EF4444"/>
                </a:solidFill>
              </a:defRPr>
            </a:pPr>
            <a:r>
              <a:t>1 : 10,000</a:t>
            </a:r>
          </a:p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Doctor Deficit</a:t>
            </a:r>
          </a:p>
          <a:p>
            <a:pPr>
              <a:defRPr sz="1100">
                <a:solidFill>
                  <a:srgbClr val="A0AFAA"/>
                </a:solidFill>
              </a:defRPr>
            </a:pPr>
            <a:r>
              <a:t>Severe practitioner deficit in rural community clinics compared to 1:1,000 urban density.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728655" cy="2103120"/>
          </a:xfrm>
          <a:prstGeom prst="roundRect">
            <a:avLst/>
          </a:prstGeom>
          <a:solidFill>
            <a:srgbClr val="14211F"/>
          </a:solidFill>
          <a:ln w="19050">
            <a:solidFill>
              <a:srgbClr val="233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b="1" sz="1400">
                <a:solidFill>
                  <a:srgbClr val="FFFFFF"/>
                </a:solidFill>
              </a:defRPr>
            </a:pPr>
            <a:r>
              <a:t>The Daily Ground Reality in Isolated Panchayats: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10B981"/>
                </a:solidFill>
              </a:rPr>
              <a:t>• Chronic Neglect: </a:t>
            </a:r>
            <a:r>
              <a:rPr sz="1150">
                <a:solidFill>
                  <a:srgbClr val="A0AFAA"/>
                </a:solidFill>
              </a:rPr>
              <a:t>Elderly diabetic patients miss insulin &amp; BP doses because local pharmacies are 10-15 km away.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10B981"/>
                </a:solidFill>
              </a:rPr>
              <a:t>• ASHA Isolation: </a:t>
            </a:r>
            <a:r>
              <a:rPr sz="1150">
                <a:solidFill>
                  <a:srgbClr val="A0AFAA"/>
                </a:solidFill>
              </a:rPr>
              <a:t>Frontline health workers face complex clinical events without instant diagnostic or triage escalation.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10B981"/>
                </a:solidFill>
              </a:rPr>
              <a:t>• Unwitnessed Trauma: </a:t>
            </a:r>
            <a:r>
              <a:rPr sz="1150">
                <a:solidFill>
                  <a:srgbClr val="A0AFAA"/>
                </a:solidFill>
              </a:rPr>
              <a:t>Falls, acute chest pains, and domestic trauma go unreported for critical hours in remote homesteads.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10B981"/>
                </a:solidFill>
              </a:rPr>
              <a:t>• Linguistic Barriers: </a:t>
            </a:r>
            <a:r>
              <a:rPr sz="1150">
                <a:solidFill>
                  <a:srgbClr val="A0AFAA"/>
                </a:solidFill>
              </a:rPr>
              <a:t>Patients unable to effectively communicate symptom histories in standardized terminology.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0B981"/>
                </a:solidFill>
              </a:defRPr>
            </a:pPr>
            <a:r>
              <a:t>THE SOLUTION</a:t>
            </a:r>
          </a:p>
          <a:p>
            <a:pPr>
              <a:defRPr b="1" sz="2800">
                <a:solidFill>
                  <a:srgbClr val="FFFFFF"/>
                </a:solidFill>
              </a:defRPr>
            </a:pPr>
            <a:r>
              <a:t>AroggyaGram: One Unified Platform, Four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2194560"/>
          </a:xfrm>
          <a:prstGeom prst="roundRect">
            <a:avLst/>
          </a:prstGeom>
          <a:solidFill>
            <a:srgbClr val="0D3B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b="1" sz="1400">
                <a:solidFill>
                  <a:srgbClr val="FFFFFF"/>
                </a:solidFill>
              </a:defRPr>
            </a:pPr>
            <a:r>
              <a:t>🤖  AI Clinical Triage (Ask Aroggya)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Powered by Google Gemini 2.5 Flash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Natural speech/text in Malayalam, Hindi, Tamil, Bengali &amp; English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Evaluates symptoms into LOW, MEDIUM, HIGH, CRITICAL risks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Immediate first-aid and clinic referral protocols (zero delays)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2194560"/>
          </a:xfrm>
          <a:prstGeom prst="roundRect">
            <a:avLst/>
          </a:prstGeom>
          <a:solidFill>
            <a:srgbClr val="2D121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b="1" sz="1400">
                <a:solidFill>
                  <a:srgbClr val="FFFFFF"/>
                </a:solidFill>
              </a:defRPr>
            </a:pPr>
            <a:r>
              <a:t>🚨  Deterministic Emergency SOS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Automatic keyword detection bypasses AI for immediate rescue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1-Tap emergency dial directly to 9539141210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Instant GPS coordinate capture with reverse geo-tagging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Multi-recipient WhatsApp emergency alerts to designated family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0F203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b="1" sz="1400">
                <a:solidFill>
                  <a:srgbClr val="FFFFFF"/>
                </a:solidFill>
              </a:defRPr>
            </a:pPr>
            <a:r>
              <a:t>🤝  Volunteer Task &amp; Responder Network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Mobilizes verified local neighbors for high-impact care tasks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100-Point algorithmic matching (distance, skills, rating, vehicle)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Interactive Leaflet map view for active and nearby assistance calls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Scoped neighbor tasks: prescription pickup, clinic transport, welfare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2312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b="1" sz="1400">
                <a:solidFill>
                  <a:srgbClr val="FFFFFF"/>
                </a:solidFill>
              </a:defRPr>
            </a:pPr>
            <a:r>
              <a:t>💊  Structured Medication Adherence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Eliminates paper schedules with smart digital prescription tracking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Structured dosage picker: tablets, syrups, strength &amp; food relations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Native 24h clock selector + fast mealtime presets (Morning, Noon, Night)</a:t>
            </a:r>
          </a:p>
          <a:p>
            <a:pPr>
              <a:spcAft>
                <a:spcPts val="200"/>
              </a:spcAft>
              <a:defRPr sz="1100">
                <a:solidFill>
                  <a:srgbClr val="FBFAF6"/>
                </a:solidFill>
              </a:defRPr>
            </a:pPr>
            <a:r>
              <a:t>• Daily compliance score &amp; proactive adherence guidance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0B981"/>
                </a:solidFill>
              </a:defRPr>
            </a:pPr>
            <a:r>
              <a:t>INTELLIGENT ORCHESTRATION</a:t>
            </a:r>
          </a:p>
          <a:p>
            <a:pPr>
              <a:defRPr b="1" sz="2800">
                <a:solidFill>
                  <a:srgbClr val="FFFFFF"/>
                </a:solidFill>
              </a:defRPr>
            </a:pPr>
            <a:r>
              <a:t>From Distress Signal to Coordinated Real-World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99055" cy="4480560"/>
          </a:xfrm>
          <a:prstGeom prst="roundRect">
            <a:avLst/>
          </a:prstGeom>
          <a:solidFill>
            <a:srgbClr val="1421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b="1" sz="1200">
                <a:solidFill>
                  <a:srgbClr val="10B981"/>
                </a:solidFill>
              </a:defRPr>
            </a:pPr>
            <a:r>
              <a:t>STEP 01</a:t>
            </a:r>
          </a:p>
          <a:p>
            <a:pPr>
              <a:spcAft>
                <a:spcPts val="1200"/>
              </a:spcAft>
              <a:defRPr b="1" sz="1600">
                <a:solidFill>
                  <a:srgbClr val="FFFFFF"/>
                </a:solidFill>
              </a:defRPr>
            </a:pPr>
            <a:r>
              <a:t>Voice / Text Intake</a:t>
            </a:r>
          </a:p>
          <a:p>
            <a:pPr>
              <a:spcAft>
                <a:spcPts val="400"/>
              </a:spcAft>
              <a:defRPr sz="1150">
                <a:solidFill>
                  <a:srgbClr val="A0AFAA"/>
                </a:solidFill>
              </a:defRPr>
            </a:pPr>
            <a:r>
              <a:t>Citizen speaks in dialect or types raw symptoms.</a:t>
            </a:r>
          </a:p>
          <a:p>
            <a:pPr>
              <a:spcAft>
                <a:spcPts val="400"/>
              </a:spcAft>
              <a:defRPr sz="1150">
                <a:solidFill>
                  <a:srgbClr val="A0AFAA"/>
                </a:solidFill>
              </a:defRPr>
            </a:pPr>
            <a:r>
              <a:t>Web Speech API captures voice stream;</a:t>
            </a:r>
          </a:p>
          <a:p>
            <a:pPr>
              <a:spcAft>
                <a:spcPts val="400"/>
              </a:spcAft>
              <a:defRPr sz="1150">
                <a:solidFill>
                  <a:srgbClr val="A0AFAA"/>
                </a:solidFill>
              </a:defRPr>
            </a:pPr>
            <a:r>
              <a:t>zero complex medical jargon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737360"/>
            <a:ext cx="2499055" cy="4480560"/>
          </a:xfrm>
          <a:prstGeom prst="roundRect">
            <a:avLst/>
          </a:prstGeom>
          <a:solidFill>
            <a:srgbClr val="14211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b="1" sz="1200">
                <a:solidFill>
                  <a:srgbClr val="F59E0B"/>
                </a:solidFill>
              </a:defRPr>
            </a:pPr>
            <a:r>
              <a:t>STEP 02</a:t>
            </a:r>
          </a:p>
          <a:p>
            <a:pPr>
              <a:spcAft>
                <a:spcPts val="1200"/>
              </a:spcAft>
              <a:defRPr b="1" sz="1600">
                <a:solidFill>
                  <a:srgbClr val="FFFFFF"/>
                </a:solidFill>
              </a:defRPr>
            </a:pPr>
            <a:r>
              <a:t>AI Situation Engine</a:t>
            </a:r>
          </a:p>
          <a:p>
            <a:pPr>
              <a:spcAft>
                <a:spcPts val="400"/>
              </a:spcAft>
              <a:defRPr sz="1150">
                <a:solidFill>
                  <a:srgbClr val="A0AFAA"/>
                </a:solidFill>
              </a:defRPr>
            </a:pPr>
            <a:r>
              <a:t>Gemini triages distress severity.</a:t>
            </a:r>
          </a:p>
          <a:p>
            <a:pPr>
              <a:spcAft>
                <a:spcPts val="400"/>
              </a:spcAft>
              <a:defRPr sz="1150">
                <a:solidFill>
                  <a:srgbClr val="A0AFAA"/>
                </a:solidFill>
              </a:defRPr>
            </a:pPr>
            <a:r>
              <a:t>Trauma keywords trigger instant SOS;</a:t>
            </a:r>
          </a:p>
          <a:p>
            <a:pPr>
              <a:spcAft>
                <a:spcPts val="400"/>
              </a:spcAft>
              <a:defRPr sz="1150">
                <a:solidFill>
                  <a:srgbClr val="A0AFAA"/>
                </a:solidFill>
              </a:defRPr>
            </a:pPr>
            <a:r>
              <a:t>non-acute needs convert into structured care cases.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2499055" cy="4480560"/>
          </a:xfrm>
          <a:prstGeom prst="roundRect">
            <a:avLst/>
          </a:prstGeom>
          <a:solidFill>
            <a:srgbClr val="14211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b="1" sz="1200">
                <a:solidFill>
                  <a:srgbClr val="A855F7"/>
                </a:solidFill>
              </a:defRPr>
            </a:pPr>
            <a:r>
              <a:t>STEP 03</a:t>
            </a:r>
          </a:p>
          <a:p>
            <a:pPr>
              <a:spcAft>
                <a:spcPts val="1200"/>
              </a:spcAft>
              <a:defRPr b="1" sz="1600">
                <a:solidFill>
                  <a:srgbClr val="FFFFFF"/>
                </a:solidFill>
              </a:defRPr>
            </a:pPr>
            <a:r>
              <a:t>Volunteer Match &amp; Dispatch</a:t>
            </a:r>
          </a:p>
          <a:p>
            <a:pPr>
              <a:spcAft>
                <a:spcPts val="400"/>
              </a:spcAft>
              <a:defRPr sz="1150">
                <a:solidFill>
                  <a:srgbClr val="A0AFAA"/>
                </a:solidFill>
              </a:defRPr>
            </a:pPr>
            <a:r>
              <a:t>MatchingService scores nearby responders (0-100)</a:t>
            </a:r>
          </a:p>
          <a:p>
            <a:pPr>
              <a:spcAft>
                <a:spcPts val="400"/>
              </a:spcAft>
              <a:defRPr sz="1150">
                <a:solidFill>
                  <a:srgbClr val="A0AFAA"/>
                </a:solidFill>
              </a:defRPr>
            </a:pPr>
            <a:r>
              <a:t>based on distance, verified skills, and transport.</a:t>
            </a:r>
          </a:p>
          <a:p>
            <a:pPr>
              <a:spcAft>
                <a:spcPts val="400"/>
              </a:spcAft>
              <a:defRPr sz="1150">
                <a:solidFill>
                  <a:srgbClr val="A0AFAA"/>
                </a:solidFill>
              </a:defRPr>
            </a:pPr>
            <a:r>
              <a:t>Best-matched neighbor receives task alert.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737360"/>
            <a:ext cx="2499055" cy="4480560"/>
          </a:xfrm>
          <a:prstGeom prst="roundRect">
            <a:avLst/>
          </a:prstGeom>
          <a:solidFill>
            <a:srgbClr val="1421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400"/>
              </a:spcAft>
              <a:defRPr b="1" sz="1200">
                <a:solidFill>
                  <a:srgbClr val="3B82F6"/>
                </a:solidFill>
              </a:defRPr>
            </a:pPr>
            <a:r>
              <a:t>STEP 04</a:t>
            </a:r>
          </a:p>
          <a:p>
            <a:pPr>
              <a:spcAft>
                <a:spcPts val="1200"/>
              </a:spcAft>
              <a:defRPr b="1" sz="1600">
                <a:solidFill>
                  <a:srgbClr val="FFFFFF"/>
                </a:solidFill>
              </a:defRPr>
            </a:pPr>
            <a:r>
              <a:t>Resolution &amp; Health Record</a:t>
            </a:r>
          </a:p>
          <a:p>
            <a:pPr>
              <a:spcAft>
                <a:spcPts val="400"/>
              </a:spcAft>
              <a:defRPr sz="1150">
                <a:solidFill>
                  <a:srgbClr val="A0AFAA"/>
                </a:solidFill>
              </a:defRPr>
            </a:pPr>
            <a:r>
              <a:t>Task completed on ground with photo/status update.</a:t>
            </a:r>
          </a:p>
          <a:p>
            <a:pPr>
              <a:spcAft>
                <a:spcPts val="400"/>
              </a:spcAft>
              <a:defRPr sz="1150">
                <a:solidFill>
                  <a:srgbClr val="A0AFAA"/>
                </a:solidFill>
              </a:defRPr>
            </a:pPr>
            <a:r>
              <a:t>Case logged into Unified Health Timeline.</a:t>
            </a:r>
          </a:p>
          <a:p>
            <a:pPr>
              <a:spcAft>
                <a:spcPts val="400"/>
              </a:spcAft>
              <a:defRPr sz="1150">
                <a:solidFill>
                  <a:srgbClr val="A0AFAA"/>
                </a:solidFill>
              </a:defRPr>
            </a:pPr>
            <a:r>
              <a:t>Patient rates experience; feedback loops to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0B981"/>
                </a:solidFill>
              </a:defRPr>
            </a:pPr>
            <a:r>
              <a:t>TECHNOLOGY &amp; ARCHITECTURE</a:t>
            </a:r>
          </a:p>
          <a:p>
            <a:pPr>
              <a:defRPr b="1" sz="2800">
                <a:solidFill>
                  <a:srgbClr val="FFFFFF"/>
                </a:solidFill>
              </a:defRPr>
            </a:pPr>
            <a:r>
              <a:t>Gemini Intelligence with Deterministic Safety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421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10B981"/>
                </a:solidFill>
              </a:defRPr>
            </a:pPr>
            <a:r>
              <a:t>Clinical AI Capabilities &amp; Safety Bounds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Multilingual NLP: </a:t>
            </a:r>
            <a:r>
              <a:rPr sz="1100">
                <a:solidFill>
                  <a:srgbClr val="A0AFAA"/>
                </a:solidFill>
              </a:rPr>
              <a:t>Gemini 2.5 Flash natively processes Malayalam, Hindi, Tamil, Bengali &amp; English with clinical grounding.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Triage Classification: </a:t>
            </a:r>
            <a:r>
              <a:rPr sz="1100">
                <a:solidFill>
                  <a:srgbClr val="A0AFAA"/>
                </a:solidFill>
              </a:rPr>
              <a:t>Categorizes urgency into LOW, MEDIUM, HIGH, CRITICAL with recommended clinical escalation.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User-Configurable API Key: </a:t>
            </a:r>
            <a:r>
              <a:rPr sz="1100">
                <a:solidFill>
                  <a:srgbClr val="A0AFAA"/>
                </a:solidFill>
              </a:rPr>
              <a:t>Zero vendor lock-in; dedicated in-app screen to test, validate, and store custom Gemini API keys locally.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Deterministic Safety Bypass: </a:t>
            </a:r>
            <a:r>
              <a:rPr sz="1100">
                <a:solidFill>
                  <a:srgbClr val="A0AFAA"/>
                </a:solidFill>
              </a:rPr>
              <a:t>Acute symptoms (unconsciousness, cardiac pain, stroke signs) bypass AI to prevent dangerous latency.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Non-Clinical Volunteer Scoping: </a:t>
            </a:r>
            <a:r>
              <a:rPr sz="1100">
                <a:solidFill>
                  <a:srgbClr val="A0AFAA"/>
                </a:solidFill>
              </a:rPr>
              <a:t>Strict system guardrails ensure volunteers perform ONLY logistics and accompaniment, never medical procedures.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4211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B82F6"/>
                </a:solidFill>
              </a:defRPr>
            </a:pPr>
            <a:r>
              <a:t>Production Engineering Stack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Core Framework: </a:t>
            </a:r>
            <a:r>
              <a:rPr sz="1100">
                <a:solidFill>
                  <a:srgbClr val="A0AFAA"/>
                </a:solidFill>
              </a:rPr>
              <a:t>React 18 + TypeScript + Vite (2,065 modules, 1.35s build)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Design System: </a:t>
            </a:r>
            <a:r>
              <a:rPr sz="1100">
                <a:solidFill>
                  <a:srgbClr val="A0AFAA"/>
                </a:solidFill>
              </a:rPr>
              <a:t>Tailwind CSS with universal Dark/Light mode tokens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Intelligence: </a:t>
            </a:r>
            <a:r>
              <a:rPr sz="1100">
                <a:solidFill>
                  <a:srgbClr val="A0AFAA"/>
                </a:solidFill>
              </a:rPr>
              <a:t>Google Gemini 2.5 Flash SDK + Situation Synthesis Engine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Geospatial: </a:t>
            </a:r>
            <a:r>
              <a:rPr sz="1100">
                <a:solidFill>
                  <a:srgbClr val="A0AFAA"/>
                </a:solidFill>
              </a:rPr>
              <a:t>Leaflet.js + OpenStreetMap for live volunteer dispatch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Database &amp; Auth: </a:t>
            </a:r>
            <a:r>
              <a:rPr sz="1100">
                <a:solidFill>
                  <a:srgbClr val="A0AFAA"/>
                </a:solidFill>
              </a:rPr>
              <a:t>Supabase (PostgreSQL with Row Level Security &amp; real-time sync)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App Packaging: </a:t>
            </a:r>
            <a:r>
              <a:rPr sz="1100">
                <a:solidFill>
                  <a:srgbClr val="A0AFAA"/>
                </a:solidFill>
              </a:rPr>
              <a:t>Capacitor Native Android APK + Installable Offline PWA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Speech Synthesis: </a:t>
            </a:r>
            <a:r>
              <a:rPr sz="1100">
                <a:solidFill>
                  <a:srgbClr val="A0AFAA"/>
                </a:solidFill>
              </a:rPr>
              <a:t>Web Speech API (en-IN / ml-IN) with fallback transcript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Test Coverage: </a:t>
            </a:r>
            <a:r>
              <a:rPr sz="1100">
                <a:solidFill>
                  <a:srgbClr val="A0AFAA"/>
                </a:solidFill>
              </a:rPr>
              <a:t>Vitest unit tests 100% passing across triage &amp; state engines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F59E0B"/>
                </a:solidFill>
              </a:defRPr>
            </a:pPr>
            <a:r>
              <a:t>COMMUNITY + EMERGENCY BACKBONE</a:t>
            </a:r>
          </a:p>
          <a:p>
            <a:pPr>
              <a:defRPr b="1" sz="2800">
                <a:solidFill>
                  <a:srgbClr val="FFFFFF"/>
                </a:solidFill>
              </a:defRPr>
            </a:pPr>
            <a:r>
              <a:t>Neighbors as First Responders, Tech as the Safety 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583680" cy="4572000"/>
          </a:xfrm>
          <a:prstGeom prst="roundRect">
            <a:avLst/>
          </a:prstGeom>
          <a:solidFill>
            <a:srgbClr val="0D3B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34D399"/>
                </a:solidFill>
              </a:defRPr>
            </a:pPr>
            <a:r>
              <a:t>Verified Volunteer Network Architecture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Configurable Service Radius: </a:t>
            </a:r>
            <a:r>
              <a:rPr sz="1100">
                <a:solidFill>
                  <a:srgbClr val="FBFAF6"/>
                </a:solidFill>
              </a:rPr>
              <a:t>Volunteers define manageable 1-15 km operating boundaries (default 8 km) around their home ward.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100-Point Match Algorithm: </a:t>
            </a:r>
            <a:r>
              <a:rPr sz="1100">
                <a:solidFill>
                  <a:srgbClr val="FBFAF6"/>
                </a:solidFill>
              </a:rPr>
              <a:t>Calculates composite score based on distance decay, registered skill sets (first aid, vehicle), and task ratings.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Dual View Operation: </a:t>
            </a:r>
            <a:r>
              <a:rPr sz="1100">
                <a:solidFill>
                  <a:srgbClr val="FBFAF6"/>
                </a:solidFill>
              </a:rPr>
              <a:t>One-tap toggle between real-time Leaflet Map markers and sortable urgency-first Task Lists.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Community Endorsement: </a:t>
            </a:r>
            <a:r>
              <a:rPr sz="1100">
                <a:solidFill>
                  <a:srgbClr val="FBFAF6"/>
                </a:solidFill>
              </a:rPr>
              <a:t>Onboarding requires ward-level verification to prevent impersonation and safeguard patient privacy.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Privacy Preserving: </a:t>
            </a:r>
            <a:r>
              <a:rPr sz="1100">
                <a:solidFill>
                  <a:srgbClr val="FBFAF6"/>
                </a:solidFill>
              </a:rPr>
              <a:t>Exact home addresses and medical records remain masked until volunteer accepts the task.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737360"/>
            <a:ext cx="3870655" cy="4572000"/>
          </a:xfrm>
          <a:prstGeom prst="roundRect">
            <a:avLst/>
          </a:prstGeom>
          <a:solidFill>
            <a:srgbClr val="2D121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b="1" sz="1600">
                <a:solidFill>
                  <a:srgbClr val="EF4444"/>
                </a:solidFill>
              </a:defRPr>
            </a:pPr>
            <a:r>
              <a:t>🚨 Emergency SOS Fail-Safe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Direct Emergency Dial: </a:t>
            </a:r>
            <a:r>
              <a:rPr sz="1100">
                <a:solidFill>
                  <a:srgbClr val="FBFAF6"/>
                </a:solidFill>
              </a:rPr>
              <a:t>Hardcoded and wired to official emergency contact 9539141210.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GPS Coordinates: </a:t>
            </a:r>
            <a:r>
              <a:rPr sz="1100">
                <a:solidFill>
                  <a:srgbClr val="FBFAF6"/>
                </a:solidFill>
              </a:rPr>
              <a:t>Captures live latitude/longitude with high precision for ambulances.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Instant WhatsApp Blast: </a:t>
            </a:r>
            <a:r>
              <a:rPr sz="1100">
                <a:solidFill>
                  <a:srgbClr val="FBFAF6"/>
                </a:solidFill>
              </a:rPr>
              <a:t>Sends pre-formatted alert messages with location links to family.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FFFF"/>
                </a:solidFill>
              </a:rPr>
              <a:t>Persistent Access: </a:t>
            </a:r>
            <a:r>
              <a:rPr sz="1100">
                <a:solidFill>
                  <a:srgbClr val="FBFAF6"/>
                </a:solidFill>
              </a:rPr>
              <a:t>Global high-contrast emergency button accessible from every single screen.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0B981"/>
                </a:solidFill>
              </a:defRPr>
            </a:pPr>
            <a:r>
              <a:t>TRACTION &amp; DEPLOYMENT</a:t>
            </a:r>
          </a:p>
          <a:p>
            <a:pPr>
              <a:defRPr b="1" sz="2800">
                <a:solidFill>
                  <a:srgbClr val="FFFFFF"/>
                </a:solidFill>
              </a:defRPr>
            </a:pPr>
            <a:r>
              <a:t>Built for Scale, Designed for Rural Dignity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13455" cy="1463040"/>
          </a:xfrm>
          <a:prstGeom prst="roundRect">
            <a:avLst/>
          </a:prstGeom>
          <a:solidFill>
            <a:srgbClr val="0D3B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200"/>
              </a:spcAft>
              <a:defRPr b="1" sz="2400">
                <a:solidFill>
                  <a:srgbClr val="34D399"/>
                </a:solidFill>
              </a:defRPr>
            </a:pPr>
            <a:r>
              <a:t>5 Languages</a:t>
            </a:r>
          </a:p>
          <a:p>
            <a:pPr>
              <a:defRPr sz="1000">
                <a:solidFill>
                  <a:srgbClr val="FBFAF6"/>
                </a:solidFill>
              </a:defRPr>
            </a:pPr>
            <a:r>
              <a:t>Native Indian Dialects  •  Malayalam, Hindi, Tamil, Bengali &amp; English supported at launch.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37360"/>
            <a:ext cx="3413455" cy="1463040"/>
          </a:xfrm>
          <a:prstGeom prst="roundRect">
            <a:avLst/>
          </a:prstGeom>
          <a:solidFill>
            <a:srgbClr val="0D3B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200"/>
              </a:spcAft>
              <a:defRPr b="1" sz="2400">
                <a:solidFill>
                  <a:srgbClr val="34D399"/>
                </a:solidFill>
              </a:defRPr>
            </a:pPr>
            <a:r>
              <a:t>&lt; 5 Seconds</a:t>
            </a:r>
          </a:p>
          <a:p>
            <a:pPr>
              <a:defRPr sz="1000">
                <a:solidFill>
                  <a:srgbClr val="FBFAF6"/>
                </a:solidFill>
              </a:defRPr>
            </a:pPr>
            <a:r>
              <a:t>AI Triage Latency  •  End-to-end symptom ingestion to clinical risk categorization.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413455" cy="1463040"/>
          </a:xfrm>
          <a:prstGeom prst="roundRect">
            <a:avLst/>
          </a:prstGeom>
          <a:solidFill>
            <a:srgbClr val="0D3B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200"/>
              </a:spcAft>
              <a:defRPr b="1" sz="2400">
                <a:solidFill>
                  <a:srgbClr val="34D399"/>
                </a:solidFill>
              </a:defRPr>
            </a:pPr>
            <a:r>
              <a:t>₹0 Cloud Cost</a:t>
            </a:r>
          </a:p>
          <a:p>
            <a:pPr>
              <a:defRPr sz="1000">
                <a:solidFill>
                  <a:srgbClr val="FBFAF6"/>
                </a:solidFill>
              </a:defRPr>
            </a:pPr>
            <a:r>
              <a:t>Zero Hosting Lock-in  •  Direct client-side Gemini execution with optional user API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212080" cy="1737360"/>
          </a:xfrm>
          <a:prstGeom prst="roundRect">
            <a:avLst/>
          </a:prstGeom>
          <a:solidFill>
            <a:srgbClr val="14211F"/>
          </a:solidFill>
          <a:ln w="19050">
            <a:solidFill>
              <a:srgbClr val="233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b="1" sz="1300">
                <a:solidFill>
                  <a:srgbClr val="FFFFFF"/>
                </a:solidFill>
              </a:defRPr>
            </a:pPr>
            <a:r>
              <a:t>Primary Beneficiaries:</a:t>
            </a:r>
          </a:p>
          <a:p>
            <a:pPr>
              <a:defRPr sz="1050">
                <a:solidFill>
                  <a:srgbClr val="A0AFAA"/>
                </a:solidFill>
              </a:defRPr>
            </a:pPr>
            <a:r>
              <a:t>• 650M+ rural residents lacking immediate emergency care</a:t>
            </a:r>
            <a:br/>
            <a:r>
              <a:t>• 1M+ ASHA workers seeking clinical decision support tools</a:t>
            </a:r>
            <a:br/>
            <a:r>
              <a:t>• Overwhelmed PHC medical officers managing triage backlogs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383280"/>
            <a:ext cx="5212080" cy="1737360"/>
          </a:xfrm>
          <a:prstGeom prst="roundRect">
            <a:avLst/>
          </a:prstGeom>
          <a:solidFill>
            <a:srgbClr val="14211F"/>
          </a:solidFill>
          <a:ln w="19050">
            <a:solidFill>
              <a:srgbClr val="233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b="1" sz="1300">
                <a:solidFill>
                  <a:srgbClr val="FFFFFF"/>
                </a:solidFill>
              </a:defRPr>
            </a:pPr>
            <a:r>
              <a:t>Architecture Scalability:</a:t>
            </a:r>
          </a:p>
          <a:p>
            <a:pPr>
              <a:defRPr sz="1050">
                <a:solidFill>
                  <a:srgbClr val="A0AFAA"/>
                </a:solidFill>
              </a:defRPr>
            </a:pPr>
            <a:r>
              <a:t>• Offline-first caching for intermittent 2G/3G connectivity</a:t>
            </a:r>
            <a:br/>
            <a:r>
              <a:t>• Ready for Ayushman Bharat Digital Mission (ABDM) integration</a:t>
            </a:r>
            <a:br/>
            <a:r>
              <a:t>• Replicable template deployable across any Indian state/district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00544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200"/>
              </a:spcAft>
              <a:defRPr b="1" sz="1400">
                <a:solidFill>
                  <a:srgbClr val="FFFFFF"/>
                </a:solidFill>
              </a:defRPr>
            </a:pPr>
            <a:r>
              <a:t>📍 Pilot Deployment Target: Kanjirappally Block, Kottayam District, Kerala</a:t>
            </a:r>
          </a:p>
          <a:p>
            <a:pPr algn="ctr">
              <a:defRPr sz="1100">
                <a:solidFill>
                  <a:srgbClr val="34D399"/>
                </a:solidFill>
              </a:defRPr>
            </a:pPr>
            <a:r>
              <a:t>Target Demographics: 220,000 population  |  4 Primary Health Centres  |  12 Sub-centres  |  180 ASHA Workers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640080"/>
            <a:ext cx="9997135" cy="5577840"/>
          </a:xfrm>
          <a:prstGeom prst="roundRect">
            <a:avLst/>
          </a:prstGeom>
          <a:solidFill>
            <a:srgbClr val="0B141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365760"/>
          <a:lstStyle/>
          <a:p>
            <a:pPr algn="ctr"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NATIONAL HACKATHON 2026  •  FINAL PITCH</a:t>
            </a:r>
          </a:p>
          <a:p>
            <a:pPr algn="ctr">
              <a:spcAft>
                <a:spcPts val="800"/>
              </a:spcAft>
              <a:defRPr b="1" sz="3600">
                <a:solidFill>
                  <a:srgbClr val="FFFFFF"/>
                </a:solidFill>
              </a:defRPr>
            </a:pPr>
            <a:r>
              <a:t>“No Rural Citizen Should Face Illness Alone.”</a:t>
            </a:r>
          </a:p>
          <a:p>
            <a:pPr algn="ctr">
              <a:spcAft>
                <a:spcPts val="2400"/>
              </a:spcAft>
              <a:defRPr sz="1400">
                <a:solidFill>
                  <a:srgbClr val="FBFAF6"/>
                </a:solidFill>
              </a:defRPr>
            </a:pPr>
            <a:r>
              <a:t>AroggyaGram doesn't wait for physical infrastructure to catch up.</a:t>
            </a:r>
            <a:br/>
            <a:r>
              <a:t>It bridges the 40-km healthcare desert using the phone in every villager's pocket.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3657600"/>
            <a:ext cx="2468880" cy="2103120"/>
          </a:xfrm>
          <a:prstGeom prst="roundRect">
            <a:avLst/>
          </a:prstGeom>
          <a:solidFill>
            <a:srgbClr val="14211F"/>
          </a:solidFill>
          <a:ln w="19050">
            <a:solidFill>
              <a:srgbClr val="233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b="1" sz="1300">
                <a:solidFill>
                  <a:srgbClr val="34D399"/>
                </a:solidFill>
              </a:defRPr>
            </a:pPr>
            <a:r>
              <a:t>🏆  The Ask</a:t>
            </a:r>
          </a:p>
          <a:p>
            <a:pPr>
              <a:defRPr sz="1050">
                <a:solidFill>
                  <a:srgbClr val="A0AFAA"/>
                </a:solidFill>
              </a:defRPr>
            </a:pPr>
            <a:r>
              <a:t>Seed partnership with National Health Mission (NHM) Kerala to pilot across 4 rural panchayats in Kottayam district.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3657600"/>
            <a:ext cx="2468880" cy="2103120"/>
          </a:xfrm>
          <a:prstGeom prst="roundRect">
            <a:avLst/>
          </a:prstGeom>
          <a:solidFill>
            <a:srgbClr val="14211F"/>
          </a:solidFill>
          <a:ln w="19050">
            <a:solidFill>
              <a:srgbClr val="233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b="1" sz="1300">
                <a:solidFill>
                  <a:srgbClr val="34D399"/>
                </a:solidFill>
              </a:defRPr>
            </a:pPr>
            <a:r>
              <a:t>🔬  Immediate Next Steps</a:t>
            </a:r>
          </a:p>
          <a:p>
            <a:pPr>
              <a:defRPr sz="1050">
                <a:solidFill>
                  <a:srgbClr val="A0AFAA"/>
                </a:solidFill>
              </a:defRPr>
            </a:pPr>
            <a:r>
              <a:t>ASHA worker beta group onboarding, Supabase database synchronization, and local ABDM health registry linking.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3657600"/>
            <a:ext cx="2468880" cy="2103120"/>
          </a:xfrm>
          <a:prstGeom prst="roundRect">
            <a:avLst/>
          </a:prstGeom>
          <a:solidFill>
            <a:srgbClr val="14211F"/>
          </a:solidFill>
          <a:ln w="19050">
            <a:solidFill>
              <a:srgbClr val="233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b="1" sz="1300">
                <a:solidFill>
                  <a:srgbClr val="34D399"/>
                </a:solidFill>
              </a:defRPr>
            </a:pPr>
            <a:r>
              <a:t>📲  Live &amp; Functional Now</a:t>
            </a:r>
          </a:p>
          <a:p>
            <a:pPr>
              <a:defRPr sz="1050">
                <a:solidFill>
                  <a:srgbClr val="A0AFAA"/>
                </a:solidFill>
              </a:defRPr>
            </a:pPr>
            <a:r>
              <a:t>Verified Android APK build available.</a:t>
            </a:r>
            <a:br/>
            <a:r>
              <a:t>Complete source code on GitHub:</a:t>
            </a:r>
            <a:br/>
            <a:r>
              <a:t>github.com/jvstin47/AroggyaGram-3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